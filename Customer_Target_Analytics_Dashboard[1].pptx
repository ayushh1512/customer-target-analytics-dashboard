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65" r:id="rId20"/>
    <p:sldId id="273" r:id="rId21"/>
    <p:sldId id="274" r:id="rId22"/>
    <p:sldId id="275" r:id="rId23"/>
    <p:sldId id="276" r:id="rId24"/>
    <p:sldId id="277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2000" cy="6858000"/>
  <p:notesSz cx="6858000" cy="9144000"/>
  <p:embeddedFontLst>
    <p:embeddedFont>
      <p:font typeface="Grandview Display" panose="020B0502040204020203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font" Target="fonts/font1.fntdata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52160-0B58-4581-91FC-9278024FF7AB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7D32E-4F08-401E-BE1E-4A36A514D2AF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7D32E-4F08-401E-BE1E-4A36A514D2AF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91365"/>
            <a:ext cx="9214884" cy="37272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403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575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 panose="020B0502040204020203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117" y="952500"/>
            <a:ext cx="4124557" cy="35242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5800" dirty="0"/>
              <a:t>Customer Target Analytics Dashboard</a:t>
            </a:r>
            <a:endParaRPr lang="en-IN" sz="5800" dirty="0"/>
          </a:p>
        </p:txBody>
      </p:sp>
      <p:cxnSp>
        <p:nvCxnSpPr>
          <p:cNvPr id="11" name="Straight Connector 10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r="-1" b="1039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24853"/>
            <a:ext cx="10890929" cy="854440"/>
          </a:xfrm>
        </p:spPr>
        <p:txBody>
          <a:bodyPr/>
          <a:lstStyle/>
          <a:p>
            <a:r>
              <a:rPr lang="en-IN" dirty="0"/>
              <a:t>Task 1: Data </a:t>
            </a:r>
            <a:r>
              <a:rPr lang="en-IN" dirty="0" err="1"/>
              <a:t>Modeling</a:t>
            </a:r>
            <a:r>
              <a:rPr lang="en-IN" dirty="0"/>
              <a:t> &amp; Cleaning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101" y="1528998"/>
            <a:ext cx="10890928" cy="4616970"/>
          </a:xfrm>
        </p:spPr>
        <p:txBody>
          <a:bodyPr>
            <a:normAutofit/>
          </a:bodyPr>
          <a:lstStyle/>
          <a:p>
            <a:r>
              <a:rPr lang="en-IN" dirty="0"/>
              <a:t>The dataset has been extracted and loaded in power bi.</a:t>
            </a:r>
            <a:endParaRPr lang="en-IN" dirty="0"/>
          </a:p>
          <a:p>
            <a:r>
              <a:rPr lang="en-IN" dirty="0"/>
              <a:t>Then, it is transformed and loaded in Power Query Editor where the duplicates and the incorrect datatypes have been corrected.</a:t>
            </a:r>
            <a:endParaRPr lang="en-IN" dirty="0"/>
          </a:p>
          <a:p>
            <a:r>
              <a:rPr lang="en-IN" dirty="0"/>
              <a:t>Then, a </a:t>
            </a:r>
            <a:r>
              <a:rPr lang="en-IN" dirty="0" err="1"/>
              <a:t>Membership_Duration</a:t>
            </a:r>
            <a:r>
              <a:rPr lang="en-IN" dirty="0"/>
              <a:t> column have been created in the Power Query Editor using the formula: </a:t>
            </a:r>
            <a:r>
              <a:rPr lang="en-US" dirty="0" err="1"/>
              <a:t>Membership_Duration</a:t>
            </a:r>
            <a:r>
              <a:rPr lang="en-US" dirty="0"/>
              <a:t> = Today – </a:t>
            </a:r>
            <a:r>
              <a:rPr lang="en-US" dirty="0" err="1"/>
              <a:t>Membership_Since</a:t>
            </a:r>
            <a:r>
              <a:rPr lang="en-US" dirty="0"/>
              <a:t>. Later the  </a:t>
            </a:r>
            <a:r>
              <a:rPr lang="en-US" dirty="0" err="1"/>
              <a:t>Transaction_Year</a:t>
            </a:r>
            <a:r>
              <a:rPr lang="en-US" dirty="0"/>
              <a:t> and </a:t>
            </a:r>
            <a:r>
              <a:rPr lang="en-US" dirty="0" err="1"/>
              <a:t>Transaction_Month</a:t>
            </a:r>
            <a:r>
              <a:rPr lang="en-US" dirty="0"/>
              <a:t> have been extracted.</a:t>
            </a:r>
            <a:endParaRPr lang="en-US" dirty="0"/>
          </a:p>
          <a:p>
            <a:r>
              <a:rPr lang="en-US" dirty="0"/>
              <a:t>After this, in the data model view, one to many relationship have been created </a:t>
            </a:r>
            <a:r>
              <a:rPr lang="en-US" dirty="0" err="1"/>
              <a:t>Customer_Demographics</a:t>
            </a:r>
            <a:r>
              <a:rPr lang="en-US" dirty="0"/>
              <a:t> → Transactions, </a:t>
            </a:r>
            <a:r>
              <a:rPr lang="en-US" dirty="0" err="1"/>
              <a:t>Loyalty_Program</a:t>
            </a:r>
            <a:r>
              <a:rPr lang="en-US" dirty="0"/>
              <a:t>, using drag and drop to the common columns. Then, a many to one relationship have also been created between Transactions → </a:t>
            </a:r>
            <a:r>
              <a:rPr lang="en-US" dirty="0" err="1"/>
              <a:t>Store_Locations</a:t>
            </a:r>
            <a:r>
              <a:rPr lang="en-US" dirty="0"/>
              <a:t> using the same approach.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600"/>
              <a:t>Task 2: </a:t>
            </a:r>
            <a:r>
              <a:rPr lang="en-US" sz="3600"/>
              <a:t>Churn &amp; Retention Metrics</a:t>
            </a:r>
            <a:endParaRPr lang="en-IN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79" y="2176036"/>
            <a:ext cx="4261104" cy="4121887"/>
          </a:xfrm>
        </p:spPr>
        <p:txBody>
          <a:bodyPr>
            <a:normAutofit/>
          </a:bodyPr>
          <a:lstStyle/>
          <a:p>
            <a:r>
              <a:rPr lang="en-IN"/>
              <a:t>A measure has been created in the data view called Churn Rate% under the Churn_Labelled_Customers using the formula: </a:t>
            </a:r>
            <a:r>
              <a:rPr lang="en-US"/>
              <a:t>Churn Rate KPI = (Churned Customers / Total Customers) * 100</a:t>
            </a:r>
            <a:endParaRPr lang="en-US"/>
          </a:p>
          <a:p>
            <a:r>
              <a:rPr lang="en-US"/>
              <a:t>Visualization of Churn Rate by Region:</a:t>
            </a:r>
            <a:endParaRPr lang="en-US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30" b="-2"/>
          <a:stretch>
            <a:fillRect/>
          </a:stretch>
        </p:blipFill>
        <p:spPr>
          <a:xfrm>
            <a:off x="5656138" y="899409"/>
            <a:ext cx="5991220" cy="5353521"/>
          </a:xfrm>
          <a:prstGeom prst="rect">
            <a:avLst/>
          </a:prstGeom>
        </p:spPr>
      </p:pic>
      <p:cxnSp>
        <p:nvCxnSpPr>
          <p:cNvPr id="15" name="Straight Connector 14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914400"/>
            <a:ext cx="4261104" cy="25146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800" b="1" kern="1200" dirty="0">
                <a:latin typeface="+mj-lt"/>
                <a:ea typeface="+mj-ea"/>
                <a:cs typeface="+mj-cs"/>
              </a:rPr>
              <a:t>Visualization of Churn Rate by Income Group</a:t>
            </a:r>
            <a:endParaRPr lang="en-US" sz="4800" b="1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6" b="2"/>
          <a:stretch>
            <a:fillRect/>
          </a:stretch>
        </p:blipFill>
        <p:spPr>
          <a:xfrm>
            <a:off x="5671128" y="914399"/>
            <a:ext cx="6520872" cy="5353521"/>
          </a:xfrm>
          <a:prstGeom prst="rect">
            <a:avLst/>
          </a:prstGeom>
        </p:spPr>
      </p:pic>
      <p:cxnSp>
        <p:nvCxnSpPr>
          <p:cNvPr id="23" name="Straight Connector 2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304801"/>
            <a:ext cx="10890929" cy="770020"/>
          </a:xfrm>
        </p:spPr>
        <p:txBody>
          <a:bodyPr>
            <a:normAutofit fontScale="90000"/>
          </a:bodyPr>
          <a:lstStyle/>
          <a:p>
            <a:r>
              <a:rPr lang="en-IN" dirty="0"/>
              <a:t>Visualization of Churn Rate by Channel (Store/Online)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915" y="1507959"/>
            <a:ext cx="9400674" cy="46912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72717"/>
            <a:ext cx="10890929" cy="770020"/>
          </a:xfrm>
        </p:spPr>
        <p:txBody>
          <a:bodyPr/>
          <a:lstStyle/>
          <a:p>
            <a:r>
              <a:rPr lang="en-IN" dirty="0"/>
              <a:t>Visualization of Churn Rate by Loyalty Tier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62" y="1491916"/>
            <a:ext cx="10090485" cy="50933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717" y="144379"/>
            <a:ext cx="11806988" cy="818147"/>
          </a:xfrm>
        </p:spPr>
        <p:txBody>
          <a:bodyPr>
            <a:normAutofit/>
          </a:bodyPr>
          <a:lstStyle/>
          <a:p>
            <a:r>
              <a:rPr lang="en-US" sz="3200" dirty="0"/>
              <a:t>Funnel Chart: Total Customers → Repeat Customers → Churned</a:t>
            </a:r>
            <a:endParaRPr lang="en-IN" sz="32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37" y="1331495"/>
            <a:ext cx="10555705" cy="51013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r>
              <a:rPr lang="en-US" dirty="0"/>
              <a:t>Task 3: Repeat Purchase Analysis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14" y="3593437"/>
            <a:ext cx="5350494" cy="238933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799" y="208547"/>
            <a:ext cx="5130210" cy="5479016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IN" sz="1600" dirty="0"/>
              <a:t>Customers have been segmented in the following pattern:</a:t>
            </a:r>
            <a:endParaRPr lang="en-IN" sz="1600" dirty="0"/>
          </a:p>
          <a:p>
            <a:pPr>
              <a:lnSpc>
                <a:spcPct val="110000"/>
              </a:lnSpc>
            </a:pPr>
            <a:r>
              <a:rPr lang="en-IN" sz="1600" dirty="0"/>
              <a:t> </a:t>
            </a:r>
            <a:r>
              <a:rPr lang="en-US" sz="1600" dirty="0"/>
              <a:t>Low-Tier: 0–3 purchases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600" dirty="0"/>
              <a:t>○ Mid-Tier: 4–8 purchases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600" dirty="0"/>
              <a:t>○ High-Tier: 9+ purchases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600" dirty="0"/>
              <a:t>A column named </a:t>
            </a:r>
            <a:r>
              <a:rPr lang="en-US" sz="1600" dirty="0" err="1"/>
              <a:t>Tier_Order</a:t>
            </a:r>
            <a:r>
              <a:rPr lang="en-US" sz="1600" dirty="0"/>
              <a:t> have been created under the </a:t>
            </a:r>
            <a:r>
              <a:rPr lang="en-US" sz="1600" dirty="0" err="1"/>
              <a:t>Customer_Transactions</a:t>
            </a:r>
            <a:r>
              <a:rPr lang="en-US" sz="1600" dirty="0"/>
              <a:t> table with the following formula: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600" dirty="0" err="1"/>
              <a:t>Tier_Order</a:t>
            </a:r>
            <a:r>
              <a:rPr lang="en-US" sz="1600" dirty="0"/>
              <a:t> = VAR </a:t>
            </a:r>
            <a:r>
              <a:rPr lang="en-US" sz="1600" dirty="0" err="1"/>
              <a:t>CustomerPurchases</a:t>
            </a:r>
            <a:r>
              <a:rPr lang="en-US" sz="1600" dirty="0"/>
              <a:t> = CALCULATE( COUNTROWS(</a:t>
            </a:r>
            <a:r>
              <a:rPr lang="en-US" sz="1600" dirty="0" err="1"/>
              <a:t>Customer_Transactions</a:t>
            </a:r>
            <a:r>
              <a:rPr lang="en-US" sz="1600" dirty="0"/>
              <a:t>), ALLEXCEPT(</a:t>
            </a:r>
            <a:r>
              <a:rPr lang="en-US" sz="1600" dirty="0" err="1"/>
              <a:t>Customer_Transactions</a:t>
            </a:r>
            <a:r>
              <a:rPr lang="en-US" sz="1600" dirty="0"/>
              <a:t>, </a:t>
            </a:r>
            <a:r>
              <a:rPr lang="en-US" sz="1600" dirty="0" err="1"/>
              <a:t>Customer_Transactions</a:t>
            </a:r>
            <a:r>
              <a:rPr lang="en-US" sz="1600" dirty="0"/>
              <a:t>[</a:t>
            </a:r>
            <a:r>
              <a:rPr lang="en-US" sz="1600" dirty="0" err="1"/>
              <a:t>Customer_ID</a:t>
            </a:r>
            <a:r>
              <a:rPr lang="en-US" sz="1600" dirty="0"/>
              <a:t>]) ) RETURN IF(</a:t>
            </a:r>
            <a:r>
              <a:rPr lang="en-US" sz="1600" dirty="0" err="1"/>
              <a:t>CustomerPurchases</a:t>
            </a:r>
            <a:r>
              <a:rPr lang="en-US" sz="1600" dirty="0"/>
              <a:t> &lt;= 3, 1, IF(</a:t>
            </a:r>
            <a:r>
              <a:rPr lang="en-US" sz="1600" dirty="0" err="1"/>
              <a:t>CustomerPurchases</a:t>
            </a:r>
            <a:r>
              <a:rPr lang="en-US" sz="1600" dirty="0"/>
              <a:t> &lt;= 8, 2, 3))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600" dirty="0"/>
              <a:t>After implication of the above formula and sorting the </a:t>
            </a:r>
            <a:r>
              <a:rPr lang="en-US" sz="1600" dirty="0" err="1"/>
              <a:t>Tier_Column</a:t>
            </a:r>
            <a:r>
              <a:rPr lang="en-US" sz="1600" dirty="0"/>
              <a:t>, beside is how the arranged table looks like:</a:t>
            </a:r>
            <a:endParaRPr lang="en-US" sz="1600" dirty="0"/>
          </a:p>
          <a:p>
            <a:pPr>
              <a:lnSpc>
                <a:spcPct val="110000"/>
              </a:lnSpc>
            </a:pPr>
            <a:endParaRPr lang="en-IN" sz="1600" dirty="0"/>
          </a:p>
        </p:txBody>
      </p:sp>
      <p:cxnSp>
        <p:nvCxnSpPr>
          <p:cNvPr id="15" name="Straight Connector 14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Compare avg. purchase frequency by Region, Age Group, Loyalty Tier</a:t>
            </a:r>
            <a:endParaRPr lang="en-IN" sz="37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2256287"/>
            <a:ext cx="5550493" cy="376045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1700" err="1"/>
              <a:t>Avg</a:t>
            </a:r>
            <a:r>
              <a:rPr lang="en-IN" sz="1700"/>
              <a:t> Purchase Frequency measure has been created under </a:t>
            </a:r>
            <a:r>
              <a:rPr lang="en-IN" sz="1700" err="1"/>
              <a:t>Customer_Transactions</a:t>
            </a:r>
            <a:r>
              <a:rPr lang="en-IN" sz="1700"/>
              <a:t> table with the help of the following formula: </a:t>
            </a:r>
            <a:endParaRPr lang="en-IN" sz="1700"/>
          </a:p>
          <a:p>
            <a:pPr>
              <a:lnSpc>
                <a:spcPct val="110000"/>
              </a:lnSpc>
            </a:pPr>
            <a:r>
              <a:rPr lang="en-US" sz="1700"/>
              <a:t>Avg Purchase Frequency = DIVIDE( COUNTROWS(</a:t>
            </a:r>
            <a:r>
              <a:rPr lang="en-US" sz="1700" err="1"/>
              <a:t>Customer_Transactions</a:t>
            </a:r>
            <a:r>
              <a:rPr lang="en-US" sz="1700"/>
              <a:t>), DISTINCTCOUNT(</a:t>
            </a:r>
            <a:r>
              <a:rPr lang="en-US" sz="1700" err="1"/>
              <a:t>Customer_Transactions</a:t>
            </a:r>
            <a:r>
              <a:rPr lang="en-US" sz="1700"/>
              <a:t>[</a:t>
            </a:r>
            <a:r>
              <a:rPr lang="en-US" sz="1700" err="1"/>
              <a:t>Customer_ID</a:t>
            </a:r>
            <a:r>
              <a:rPr lang="en-US" sz="1700"/>
              <a:t>]), 0 )</a:t>
            </a:r>
            <a:endParaRPr lang="en-US" sz="1700"/>
          </a:p>
          <a:p>
            <a:pPr>
              <a:lnSpc>
                <a:spcPct val="110000"/>
              </a:lnSpc>
            </a:pPr>
            <a:r>
              <a:rPr lang="en-US" sz="1700"/>
              <a:t>The visual of Avg Purchase Frequency by Region has been created using Clustered Bar Chart and keeping Avg Purchase Frequency in x-axis and Region in y-axis.</a:t>
            </a:r>
            <a:endParaRPr lang="en-US" sz="1700"/>
          </a:p>
          <a:p>
            <a:pPr>
              <a:lnSpc>
                <a:spcPct val="110000"/>
              </a:lnSpc>
            </a:pPr>
            <a:endParaRPr lang="en-IN" sz="1700"/>
          </a:p>
        </p:txBody>
      </p:sp>
      <p:cxnSp>
        <p:nvCxnSpPr>
          <p:cNvPr id="12" name="Straight Connector 11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IN" dirty="0"/>
              <a:t>Average Purchase Frequency by Age Group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2256287"/>
            <a:ext cx="5241057" cy="376045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en-IN" dirty="0"/>
              <a:t>This visualization has been created using the clustered bar chart by keeping </a:t>
            </a:r>
            <a:r>
              <a:rPr lang="en-IN" dirty="0" err="1"/>
              <a:t>Avg</a:t>
            </a:r>
            <a:r>
              <a:rPr lang="en-IN" dirty="0"/>
              <a:t> Purchase Frequency in x-axis </a:t>
            </a:r>
            <a:r>
              <a:rPr lang="en-IN" dirty="0" err="1"/>
              <a:t>Age_Group</a:t>
            </a:r>
            <a:r>
              <a:rPr lang="en-IN" dirty="0"/>
              <a:t> in y-axis,</a:t>
            </a:r>
            <a:endParaRPr lang="en-IN" dirty="0"/>
          </a:p>
          <a:p>
            <a:endParaRPr lang="en-IN" dirty="0"/>
          </a:p>
        </p:txBody>
      </p:sp>
      <p:cxnSp>
        <p:nvCxnSpPr>
          <p:cNvPr id="12" name="Straight Connector 11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IN" dirty="0"/>
              <a:t>Average Purchase Frequency by Loyalty Tier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2343215"/>
            <a:ext cx="5648193" cy="35866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en-IN" dirty="0"/>
              <a:t>This visualization has been created with the help of clustered bar chart by keeping </a:t>
            </a:r>
            <a:r>
              <a:rPr lang="en-IN" dirty="0" err="1"/>
              <a:t>Avg</a:t>
            </a:r>
            <a:r>
              <a:rPr lang="en-IN" dirty="0"/>
              <a:t> Purchase Frequency in x-axis and Loyalty Tier in y-axis.</a:t>
            </a:r>
            <a:endParaRPr lang="en-IN" dirty="0"/>
          </a:p>
          <a:p>
            <a:endParaRPr lang="en-IN" dirty="0"/>
          </a:p>
        </p:txBody>
      </p:sp>
      <p:cxnSp>
        <p:nvCxnSpPr>
          <p:cNvPr id="14" name="Straight Connector 13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72717"/>
            <a:ext cx="10890929" cy="689810"/>
          </a:xfrm>
        </p:spPr>
        <p:txBody>
          <a:bodyPr>
            <a:normAutofit/>
          </a:bodyPr>
          <a:lstStyle/>
          <a:p>
            <a:r>
              <a:rPr lang="en-IN" sz="3200"/>
              <a:t>M</a:t>
            </a:r>
            <a:r>
              <a:rPr lang="en-US" sz="3200"/>
              <a:t>ost purchased product categories by loyal customers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187116"/>
            <a:ext cx="10890928" cy="5012516"/>
          </a:xfrm>
        </p:spPr>
        <p:txBody>
          <a:bodyPr/>
          <a:lstStyle/>
          <a:p>
            <a:r>
              <a:rPr lang="en-IN"/>
              <a:t>To find this, a measure named Loyal Customer Purchases have been created under the Customer_Transactions table with the help of the formula below:</a:t>
            </a:r>
            <a:endParaRPr lang="en-IN"/>
          </a:p>
          <a:p>
            <a:r>
              <a:rPr lang="en-US"/>
              <a:t>Loyal Customer Purchases = CALCULATE( COUNTROWS(Customer_Transactions), FILTER( Loyalty_Program, Loyalty_Program[Loyalty_Tier] = "Premium" || Loyalty_Program[Loyalty_Tier] = "Elite" ) ).</a:t>
            </a:r>
            <a:endParaRPr lang="en-US"/>
          </a:p>
          <a:p>
            <a:r>
              <a:rPr lang="en-US"/>
              <a:t>After this, a visualization has been created using clustered bar chart and keeping Loyal Customer Purchases in x-axis and Product_Category in y-axis.</a:t>
            </a:r>
            <a:endParaRPr lang="en-US"/>
          </a:p>
          <a:p>
            <a:r>
              <a:rPr lang="en-US"/>
              <a:t>A slicer has also been embedded for Loyalty_Tier from the visualization panel in order to apply filter among the several categories of Loyalty_Tier.</a:t>
            </a:r>
            <a:endParaRPr lang="en-US"/>
          </a:p>
          <a:p>
            <a:r>
              <a:rPr lang="en-US"/>
              <a:t>Below is the visualized graph along with the slicer beside it.</a:t>
            </a:r>
            <a:endParaRPr lang="en-US"/>
          </a:p>
          <a:p>
            <a:endParaRPr lang="en-US"/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9" name="Rectangle 5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0" name="Rectangle 5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" r="2001" b="1"/>
          <a:stretch>
            <a:fillRect/>
          </a:stretch>
        </p:blipFill>
        <p:spPr>
          <a:xfrm>
            <a:off x="713233" y="994180"/>
            <a:ext cx="10498908" cy="4871218"/>
          </a:xfrm>
          <a:prstGeom prst="rect">
            <a:avLst/>
          </a:prstGeom>
        </p:spPr>
      </p:pic>
      <p:cxnSp>
        <p:nvCxnSpPr>
          <p:cNvPr id="38" name="Straight Connector 37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990600" y="5865398"/>
            <a:ext cx="1022154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304801"/>
            <a:ext cx="10890929" cy="625642"/>
          </a:xfrm>
        </p:spPr>
        <p:txBody>
          <a:bodyPr>
            <a:normAutofit fontScale="90000"/>
          </a:bodyPr>
          <a:lstStyle/>
          <a:p>
            <a:r>
              <a:rPr lang="en-US" dirty="0"/>
              <a:t>Task 4: Promotion &amp; Loyalty Impact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79" y="1645920"/>
            <a:ext cx="10890928" cy="5059680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A measure named Promotion Transaction% has been calculated under </a:t>
            </a:r>
            <a:r>
              <a:rPr lang="en-IN" dirty="0" err="1"/>
              <a:t>Customer_Transactions</a:t>
            </a:r>
            <a:r>
              <a:rPr lang="en-IN" dirty="0"/>
              <a:t> table using the formula below:</a:t>
            </a:r>
            <a:endParaRPr lang="en-IN" dirty="0"/>
          </a:p>
          <a:p>
            <a:r>
              <a:rPr lang="en-US" dirty="0"/>
              <a:t>Promotion Transaction % = DIVIDE( COUNTROWS( FILTER( </a:t>
            </a:r>
            <a:r>
              <a:rPr lang="en-US" dirty="0" err="1"/>
              <a:t>Customer_Transactions</a:t>
            </a:r>
            <a:r>
              <a:rPr lang="en-US" dirty="0"/>
              <a:t>, </a:t>
            </a:r>
            <a:r>
              <a:rPr lang="en-US" dirty="0" err="1"/>
              <a:t>Customer_Transactions</a:t>
            </a:r>
            <a:r>
              <a:rPr lang="en-US" dirty="0"/>
              <a:t>[</a:t>
            </a:r>
            <a:r>
              <a:rPr lang="en-US" dirty="0" err="1"/>
              <a:t>Promotion_Applied</a:t>
            </a:r>
            <a:r>
              <a:rPr lang="en-US" dirty="0"/>
              <a:t>] = "Yes" ) ), COUNTROWS(</a:t>
            </a:r>
            <a:r>
              <a:rPr lang="en-US" dirty="0" err="1"/>
              <a:t>Customer_Transactions</a:t>
            </a:r>
            <a:r>
              <a:rPr lang="en-US" dirty="0"/>
              <a:t>), 0 ) * 100</a:t>
            </a:r>
            <a:endParaRPr lang="en-US" dirty="0"/>
          </a:p>
          <a:p>
            <a:r>
              <a:rPr lang="en-US" dirty="0"/>
              <a:t>A measure named Avg Amount with Promotion has been created under </a:t>
            </a:r>
            <a:r>
              <a:rPr lang="en-US" dirty="0" err="1"/>
              <a:t>Customer_Transactions</a:t>
            </a:r>
            <a:r>
              <a:rPr lang="en-US" dirty="0"/>
              <a:t> table using the formula below:</a:t>
            </a:r>
            <a:endParaRPr lang="en-US" dirty="0"/>
          </a:p>
          <a:p>
            <a:r>
              <a:rPr lang="en-US" dirty="0"/>
              <a:t>Avg Amount With Promotion = CALCULATE( AVERAGE(</a:t>
            </a:r>
            <a:r>
              <a:rPr lang="en-US" dirty="0" err="1"/>
              <a:t>Customer_Transactions</a:t>
            </a:r>
            <a:r>
              <a:rPr lang="en-US" dirty="0"/>
              <a:t>[Amount]), </a:t>
            </a:r>
            <a:r>
              <a:rPr lang="en-US" dirty="0" err="1"/>
              <a:t>Customer_Transactions</a:t>
            </a:r>
            <a:r>
              <a:rPr lang="en-US" dirty="0"/>
              <a:t>[</a:t>
            </a:r>
            <a:r>
              <a:rPr lang="en-US" dirty="0" err="1"/>
              <a:t>Promotion_Applied</a:t>
            </a:r>
            <a:r>
              <a:rPr lang="en-US" dirty="0"/>
              <a:t>] = "Yes" )</a:t>
            </a:r>
            <a:endParaRPr lang="en-US" dirty="0"/>
          </a:p>
          <a:p>
            <a:r>
              <a:rPr lang="en-US" dirty="0"/>
              <a:t>A second measure named Avg Amount without Promotion has been created under </a:t>
            </a:r>
            <a:r>
              <a:rPr lang="en-US" dirty="0" err="1"/>
              <a:t>Customer_Transactions</a:t>
            </a:r>
            <a:r>
              <a:rPr lang="en-US" dirty="0"/>
              <a:t> table using the formula below:</a:t>
            </a:r>
            <a:endParaRPr lang="en-US" dirty="0"/>
          </a:p>
          <a:p>
            <a:r>
              <a:rPr lang="en-US" dirty="0"/>
              <a:t>Avg Amount Without Promotion = CALCULATE( AVERAGE(</a:t>
            </a:r>
            <a:r>
              <a:rPr lang="en-US" dirty="0" err="1"/>
              <a:t>Customer_Transactions</a:t>
            </a:r>
            <a:r>
              <a:rPr lang="en-US" dirty="0"/>
              <a:t>[Amount]), </a:t>
            </a:r>
            <a:r>
              <a:rPr lang="en-US" dirty="0" err="1"/>
              <a:t>Customer_Transactions</a:t>
            </a:r>
            <a:r>
              <a:rPr lang="en-US" dirty="0"/>
              <a:t>[</a:t>
            </a:r>
            <a:r>
              <a:rPr lang="en-US" dirty="0" err="1"/>
              <a:t>Promotion_Applied</a:t>
            </a:r>
            <a:r>
              <a:rPr lang="en-US" dirty="0"/>
              <a:t>] = "No" )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6393"/>
          <a:stretch>
            <a:fillRect/>
          </a:stretch>
        </p:blipFill>
        <p:spPr>
          <a:xfrm>
            <a:off x="990599" y="176465"/>
            <a:ext cx="10221541" cy="6416837"/>
          </a:xfrm>
          <a:prstGeom prst="rect">
            <a:avLst/>
          </a:prstGeom>
        </p:spPr>
      </p:pic>
      <p:cxnSp>
        <p:nvCxnSpPr>
          <p:cNvPr id="18" name="Straight Connector 17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990600" y="5865398"/>
            <a:ext cx="1022154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192505"/>
            <a:ext cx="10890929" cy="930442"/>
          </a:xfrm>
        </p:spPr>
        <p:txBody>
          <a:bodyPr/>
          <a:lstStyle/>
          <a:p>
            <a:r>
              <a:rPr lang="en-IN" dirty="0"/>
              <a:t>Visualization of Churn Rate% by </a:t>
            </a:r>
            <a:r>
              <a:rPr lang="en-IN" dirty="0" err="1"/>
              <a:t>Loyalty_Tier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122947"/>
            <a:ext cx="10890928" cy="5076685"/>
          </a:xfrm>
        </p:spPr>
        <p:txBody>
          <a:bodyPr/>
          <a:lstStyle/>
          <a:p>
            <a:r>
              <a:rPr lang="en-IN" dirty="0"/>
              <a:t>This visual has been created using Clustered Bar Chart by keeping Churn Rate% in x-axis and </a:t>
            </a:r>
            <a:r>
              <a:rPr lang="en-IN" dirty="0" err="1"/>
              <a:t>Loyalty_Tier</a:t>
            </a:r>
            <a:r>
              <a:rPr lang="en-IN" dirty="0"/>
              <a:t> in y-axis.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989" y="2375450"/>
            <a:ext cx="9673390" cy="40963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320842"/>
            <a:ext cx="10890929" cy="1251284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Visualize Points Earned vs. Redeemed by Tier (Clustered Column Chart).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572126"/>
            <a:ext cx="10890928" cy="4627506"/>
          </a:xfrm>
        </p:spPr>
        <p:txBody>
          <a:bodyPr/>
          <a:lstStyle/>
          <a:p>
            <a:r>
              <a:rPr lang="en-IN" dirty="0"/>
              <a:t>Two measures named Total Points Earned and Total Points Redeemed have been created under </a:t>
            </a:r>
            <a:r>
              <a:rPr lang="en-IN" dirty="0" err="1"/>
              <a:t>Loyalty_Program</a:t>
            </a:r>
            <a:r>
              <a:rPr lang="en-IN" dirty="0"/>
              <a:t> table using the following formulas:</a:t>
            </a:r>
            <a:endParaRPr lang="en-IN" dirty="0"/>
          </a:p>
          <a:p>
            <a:r>
              <a:rPr lang="en-US" dirty="0"/>
              <a:t>Total Points Earned = SUM(</a:t>
            </a:r>
            <a:r>
              <a:rPr lang="en-US" dirty="0" err="1"/>
              <a:t>Loyalty_Program</a:t>
            </a:r>
            <a:r>
              <a:rPr lang="en-US" dirty="0"/>
              <a:t>[</a:t>
            </a:r>
            <a:r>
              <a:rPr lang="en-US" dirty="0" err="1"/>
              <a:t>Points_Earned</a:t>
            </a:r>
            <a:r>
              <a:rPr lang="en-US" dirty="0"/>
              <a:t>])</a:t>
            </a:r>
            <a:endParaRPr lang="en-US" dirty="0"/>
          </a:p>
          <a:p>
            <a:r>
              <a:rPr lang="en-US" dirty="0"/>
              <a:t>Total Points Redeemed = SUM(</a:t>
            </a:r>
            <a:r>
              <a:rPr lang="en-US" dirty="0" err="1"/>
              <a:t>Loyalty_Program</a:t>
            </a:r>
            <a:r>
              <a:rPr lang="en-US" dirty="0"/>
              <a:t>[</a:t>
            </a:r>
            <a:r>
              <a:rPr lang="en-US" dirty="0" err="1"/>
              <a:t>Points_Redeemed</a:t>
            </a:r>
            <a:r>
              <a:rPr lang="en-US" dirty="0"/>
              <a:t>])</a:t>
            </a:r>
            <a:endParaRPr lang="en-US" dirty="0"/>
          </a:p>
          <a:p>
            <a:r>
              <a:rPr lang="en-US" dirty="0"/>
              <a:t>A clustered column chart has been visualized by keeping </a:t>
            </a:r>
            <a:r>
              <a:rPr lang="en-US" dirty="0" err="1"/>
              <a:t>Loyalty_Tier</a:t>
            </a:r>
            <a:r>
              <a:rPr lang="en-US" dirty="0"/>
              <a:t> in x-axis and Total Points Earned, Total Points Redeemed in y-axis in the next slide.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79" y="577516"/>
            <a:ext cx="11229474" cy="58393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8547"/>
            <a:ext cx="10890929" cy="882316"/>
          </a:xfrm>
        </p:spPr>
        <p:txBody>
          <a:bodyPr>
            <a:normAutofit fontScale="90000"/>
          </a:bodyPr>
          <a:lstStyle/>
          <a:p>
            <a:r>
              <a:rPr lang="en-US" b="0" dirty="0"/>
              <a:t>Recommendations to improve redemption &amp; retention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331495"/>
            <a:ext cx="10890928" cy="4868137"/>
          </a:xfrm>
        </p:spPr>
        <p:txBody>
          <a:bodyPr/>
          <a:lstStyle/>
          <a:p>
            <a:r>
              <a:rPr lang="en-US" sz="3200" dirty="0"/>
              <a:t>1. Launch targeted campaigns for North region (35% churn)</a:t>
            </a:r>
            <a:endParaRPr lang="en-US" sz="3200" dirty="0"/>
          </a:p>
          <a:p>
            <a:r>
              <a:rPr lang="en-US" sz="3200" dirty="0"/>
              <a:t>2. Restructure Elite tier benefits to reduce 29% churn</a:t>
            </a:r>
            <a:endParaRPr lang="en-US" sz="3200" dirty="0"/>
          </a:p>
          <a:p>
            <a:r>
              <a:rPr lang="en-US" sz="3200" dirty="0"/>
              <a:t>3. Shift to bundle promotions to increase avg spend</a:t>
            </a:r>
            <a:endParaRPr lang="en-US" sz="3200" dirty="0"/>
          </a:p>
          <a:p>
            <a:r>
              <a:rPr lang="en-US" sz="3200" dirty="0"/>
              <a:t>4. Send redemption reminders to high points earners</a:t>
            </a:r>
            <a:endParaRPr lang="en-US" sz="3200" dirty="0"/>
          </a:p>
          <a:p>
            <a:r>
              <a:rPr lang="en-US" sz="3200" dirty="0"/>
              <a:t>5. Replicate Plus tier success across other tiers</a:t>
            </a:r>
            <a:endParaRPr lang="en-US" sz="3200" dirty="0"/>
          </a:p>
          <a:p>
            <a:endParaRPr lang="en-IN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100"/>
              <a:t>Task 5: Store &amp; Channel Performance vs Retention</a:t>
            </a:r>
            <a:br>
              <a:rPr lang="en-IN" sz="3100"/>
            </a:br>
            <a:r>
              <a:rPr lang="en-US" sz="3100"/>
              <a:t>Merge store data with transactions</a:t>
            </a:r>
            <a:endParaRPr lang="en-IN" sz="3100"/>
          </a:p>
        </p:txBody>
      </p:sp>
      <p:cxnSp>
        <p:nvCxnSpPr>
          <p:cNvPr id="15" name="Straight Connector 14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3069183"/>
            <a:ext cx="5648193" cy="269701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71063" y="2537460"/>
            <a:ext cx="4659945" cy="3760459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1700"/>
              <a:t>In the power query editor, look for combine group and then click merge queries.</a:t>
            </a:r>
            <a:endParaRPr lang="en-IN" sz="1700"/>
          </a:p>
          <a:p>
            <a:pPr>
              <a:lnSpc>
                <a:spcPct val="110000"/>
              </a:lnSpc>
            </a:pPr>
            <a:r>
              <a:rPr lang="en-IN" sz="1700"/>
              <a:t>A </a:t>
            </a:r>
            <a:r>
              <a:rPr lang="en-IN" sz="1700" err="1"/>
              <a:t>Store_ID</a:t>
            </a:r>
            <a:r>
              <a:rPr lang="en-IN" sz="1700"/>
              <a:t> option has to be selected when the dialog box opens, then join kind and select left outer.</a:t>
            </a:r>
            <a:endParaRPr lang="en-IN" sz="1700"/>
          </a:p>
          <a:p>
            <a:pPr>
              <a:lnSpc>
                <a:spcPct val="110000"/>
              </a:lnSpc>
            </a:pPr>
            <a:r>
              <a:rPr lang="en-IN" sz="1700"/>
              <a:t>A new column named </a:t>
            </a:r>
            <a:r>
              <a:rPr lang="en-IN" sz="1700" err="1"/>
              <a:t>Store_Locations</a:t>
            </a:r>
            <a:r>
              <a:rPr lang="en-IN" sz="1700"/>
              <a:t> appears and then upon clicking the expand icon and selecting </a:t>
            </a:r>
            <a:r>
              <a:rPr lang="en-IN" sz="1700" err="1"/>
              <a:t>Store_Type</a:t>
            </a:r>
            <a:r>
              <a:rPr lang="en-IN" sz="1700"/>
              <a:t> and Region, two new column gets added to the table.</a:t>
            </a:r>
            <a:endParaRPr lang="en-IN" sz="1700"/>
          </a:p>
          <a:p>
            <a:pPr>
              <a:lnSpc>
                <a:spcPct val="110000"/>
              </a:lnSpc>
            </a:pPr>
            <a:endParaRPr lang="en-IN" sz="17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400"/>
              <a:t>Visualization of Avg. Transaction amount by Store Type</a:t>
            </a:r>
            <a:endParaRPr lang="en-IN" sz="3400"/>
          </a:p>
        </p:txBody>
      </p:sp>
      <p:cxnSp>
        <p:nvCxnSpPr>
          <p:cNvPr id="12" name="Straight Connector 11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2537460"/>
            <a:ext cx="5496839" cy="376045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71063" y="2537460"/>
            <a:ext cx="4659945" cy="3760459"/>
          </a:xfrm>
        </p:spPr>
        <p:txBody>
          <a:bodyPr anchor="t">
            <a:normAutofit/>
          </a:bodyPr>
          <a:lstStyle/>
          <a:p>
            <a:r>
              <a:rPr lang="en-IN" dirty="0"/>
              <a:t>This visualization has been created using the clustered bar chart by keeping Avg. Transaction Value in x-axis and </a:t>
            </a:r>
            <a:r>
              <a:rPr lang="en-IN" dirty="0" err="1"/>
              <a:t>Store_Type</a:t>
            </a:r>
            <a:r>
              <a:rPr lang="en-IN" dirty="0"/>
              <a:t> in y-axis.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Visualization of Churn Rate by Store Type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2120900"/>
            <a:ext cx="10890928" cy="4078732"/>
          </a:xfrm>
        </p:spPr>
        <p:txBody>
          <a:bodyPr/>
          <a:lstStyle/>
          <a:p>
            <a:r>
              <a:rPr lang="en-IN" dirty="0"/>
              <a:t>This visualization has been created by using the clustered bar chart and keeping Churn Rate% in x-axis and </a:t>
            </a:r>
            <a:r>
              <a:rPr lang="en-IN" dirty="0" err="1"/>
              <a:t>Store_Type</a:t>
            </a:r>
            <a:r>
              <a:rPr lang="en-IN" dirty="0"/>
              <a:t> in y-axis.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157453"/>
            <a:ext cx="9601200" cy="34973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700"/>
              <a:t>Visualization of </a:t>
            </a:r>
            <a:r>
              <a:rPr lang="en-US" sz="3700"/>
              <a:t>Correlation between store opening year &amp; retention</a:t>
            </a:r>
            <a:endParaRPr lang="en-IN" sz="37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2555022"/>
            <a:ext cx="6201918" cy="316298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en-IN" dirty="0"/>
              <a:t>This visualization has been created using the line chart by keeping </a:t>
            </a:r>
            <a:r>
              <a:rPr lang="en-IN" dirty="0" err="1"/>
              <a:t>Opening_Year</a:t>
            </a:r>
            <a:r>
              <a:rPr lang="en-IN" dirty="0"/>
              <a:t> in x-axis, Retention Rate% in y-axis and </a:t>
            </a:r>
            <a:r>
              <a:rPr lang="en-IN" dirty="0" err="1"/>
              <a:t>Store_Type</a:t>
            </a:r>
            <a:r>
              <a:rPr lang="en-IN" dirty="0"/>
              <a:t> in legend.</a:t>
            </a:r>
            <a:endParaRPr lang="en-IN" dirty="0"/>
          </a:p>
          <a:p>
            <a:endParaRPr lang="en-IN" dirty="0"/>
          </a:p>
        </p:txBody>
      </p:sp>
      <p:cxnSp>
        <p:nvCxnSpPr>
          <p:cNvPr id="12" name="Straight Connector 11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15901"/>
            <a:ext cx="10890929" cy="990600"/>
          </a:xfrm>
        </p:spPr>
        <p:txBody>
          <a:bodyPr/>
          <a:lstStyle/>
          <a:p>
            <a:r>
              <a:rPr lang="en-US" dirty="0"/>
              <a:t>Task 6: Customer Lifetime Value (CLV)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06501"/>
            <a:ext cx="10890928" cy="4993131"/>
          </a:xfrm>
        </p:spPr>
        <p:txBody>
          <a:bodyPr/>
          <a:lstStyle/>
          <a:p>
            <a:r>
              <a:rPr lang="en-IN" dirty="0"/>
              <a:t>A CLV value has been calculated using the calculated column under the </a:t>
            </a:r>
            <a:r>
              <a:rPr lang="en-IN" dirty="0" err="1"/>
              <a:t>Customer_Demographics</a:t>
            </a:r>
            <a:r>
              <a:rPr lang="en-IN" dirty="0"/>
              <a:t> table with the help of following DAX formula:</a:t>
            </a:r>
            <a:endParaRPr lang="en-IN" dirty="0"/>
          </a:p>
          <a:p>
            <a:r>
              <a:rPr lang="en-US" dirty="0"/>
              <a:t>CLV = DIVIDE( CALCULATE(SUM(</a:t>
            </a:r>
            <a:r>
              <a:rPr lang="en-US" dirty="0" err="1"/>
              <a:t>Customer_Transactions</a:t>
            </a:r>
            <a:r>
              <a:rPr lang="en-US" dirty="0"/>
              <a:t>[Amount])), DIVIDE(</a:t>
            </a:r>
            <a:r>
              <a:rPr lang="en-US" dirty="0" err="1"/>
              <a:t>Customer_Demographics</a:t>
            </a:r>
            <a:r>
              <a:rPr lang="en-US" dirty="0"/>
              <a:t>[</a:t>
            </a:r>
            <a:r>
              <a:rPr lang="en-US" dirty="0" err="1"/>
              <a:t>Membership_Duration</a:t>
            </a:r>
            <a:r>
              <a:rPr lang="en-US" dirty="0"/>
              <a:t>], 365), 0 ).</a:t>
            </a:r>
            <a:endParaRPr lang="en-US" dirty="0"/>
          </a:p>
          <a:p>
            <a:r>
              <a:rPr lang="en-US" dirty="0"/>
              <a:t>Segmentation of customers into Low CLV and High CLV  has been done by creating a column named CLV </a:t>
            </a:r>
            <a:r>
              <a:rPr lang="en-US" dirty="0" err="1"/>
              <a:t>Segmen</a:t>
            </a:r>
            <a:r>
              <a:rPr lang="en-US" dirty="0"/>
              <a:t> t under the </a:t>
            </a:r>
            <a:r>
              <a:rPr lang="en-US" dirty="0" err="1"/>
              <a:t>Customer_Demographics</a:t>
            </a:r>
            <a:r>
              <a:rPr lang="en-US" dirty="0"/>
              <a:t> table by using the following DAX formula:</a:t>
            </a:r>
            <a:endParaRPr lang="en-US" dirty="0"/>
          </a:p>
          <a:p>
            <a:r>
              <a:rPr lang="en-US" dirty="0"/>
              <a:t>CLV Segment = IF( </a:t>
            </a:r>
            <a:r>
              <a:rPr lang="en-US" dirty="0" err="1"/>
              <a:t>Customer_Demographics</a:t>
            </a:r>
            <a:r>
              <a:rPr lang="en-US" dirty="0"/>
              <a:t>[CLV] &gt;= CALCULATE( AVERAGE(</a:t>
            </a:r>
            <a:r>
              <a:rPr lang="en-US" dirty="0" err="1"/>
              <a:t>Customer_Demographics</a:t>
            </a:r>
            <a:r>
              <a:rPr lang="en-US" dirty="0"/>
              <a:t>[CLV]), ALL(</a:t>
            </a:r>
            <a:r>
              <a:rPr lang="en-US" dirty="0" err="1"/>
              <a:t>Customer_Demographics</a:t>
            </a:r>
            <a:r>
              <a:rPr lang="en-US" dirty="0"/>
              <a:t>) ), "High CLV", "Low CLV" )</a:t>
            </a:r>
            <a:r>
              <a:rPr lang="en-IN" dirty="0"/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IN" sz="3700"/>
              <a:t>Visualization of CLV vs Days Since Last Purchase</a:t>
            </a:r>
            <a:endParaRPr lang="en-IN" sz="37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2085468"/>
            <a:ext cx="6201918" cy="376045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en-IN" dirty="0"/>
              <a:t>The visualization of CLV vs Days Since Last Purchase has been done using Scatter Chart visual by keeping Days Since Last Purchase in x-axis and Customer Lifetime Value in y-axis.</a:t>
            </a:r>
            <a:endParaRPr lang="en-IN" dirty="0"/>
          </a:p>
          <a:p>
            <a:endParaRPr lang="en-IN" dirty="0"/>
          </a:p>
        </p:txBody>
      </p:sp>
      <p:cxnSp>
        <p:nvCxnSpPr>
          <p:cNvPr id="12" name="Straight Connector 11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317501"/>
            <a:ext cx="10890929" cy="1016000"/>
          </a:xfrm>
        </p:spPr>
        <p:txBody>
          <a:bodyPr>
            <a:normAutofit/>
          </a:bodyPr>
          <a:lstStyle/>
          <a:p>
            <a:r>
              <a:rPr lang="en-IN" dirty="0"/>
              <a:t>Visualization of CLV by Loyalty Tier And Region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117600"/>
            <a:ext cx="10890928" cy="3695700"/>
          </a:xfrm>
        </p:spPr>
        <p:txBody>
          <a:bodyPr/>
          <a:lstStyle/>
          <a:p>
            <a:r>
              <a:rPr lang="en-IN" dirty="0"/>
              <a:t>The visualization of CLV by Loyalty Tier has been done by using clustered bar chart and keeping CLV in x-axis and </a:t>
            </a:r>
            <a:r>
              <a:rPr lang="en-IN" dirty="0" err="1"/>
              <a:t>Loyalty_Tier</a:t>
            </a:r>
            <a:r>
              <a:rPr lang="en-IN" dirty="0"/>
              <a:t> in y-axis.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200" y="2463800"/>
            <a:ext cx="7772399" cy="3937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536" y="203200"/>
            <a:ext cx="10890928" cy="5793232"/>
          </a:xfrm>
        </p:spPr>
        <p:txBody>
          <a:bodyPr/>
          <a:lstStyle/>
          <a:p>
            <a:r>
              <a:rPr lang="en-IN" dirty="0"/>
              <a:t>The visualization of CLV by region has been done with the help of clustered bar chart by keeping CLV in x-axis and Region in y-axis.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595181"/>
            <a:ext cx="8813800" cy="424681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1"/>
            <a:ext cx="10890929" cy="977899"/>
          </a:xfrm>
        </p:spPr>
        <p:txBody>
          <a:bodyPr/>
          <a:lstStyle/>
          <a:p>
            <a:r>
              <a:rPr lang="en-US" dirty="0"/>
              <a:t>Task 7: Final Dashboard &amp; Executive Summary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799" y="711200"/>
            <a:ext cx="11120121" cy="6146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" y="152400"/>
            <a:ext cx="11671300" cy="59563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165100"/>
            <a:ext cx="11772900" cy="64897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" y="114300"/>
            <a:ext cx="12103100" cy="6451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127001"/>
            <a:ext cx="10890929" cy="939800"/>
          </a:xfrm>
        </p:spPr>
        <p:txBody>
          <a:bodyPr/>
          <a:lstStyle/>
          <a:p>
            <a:r>
              <a:rPr lang="en-US" dirty="0"/>
              <a:t>Top 3 Recommendations for Target: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066800"/>
            <a:ext cx="10890928" cy="5791199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Which customers to prioritize for retention?</a:t>
            </a:r>
            <a:endParaRPr lang="en-US" b="1" dirty="0"/>
          </a:p>
          <a:p>
            <a:r>
              <a:rPr lang="en-US" dirty="0"/>
              <a:t>Customers who are having  high lifetime value but increasing inactivity are at highest risk Prioritize them with immediate re-engagement campaigns before they fully churn.</a:t>
            </a:r>
            <a:endParaRPr lang="en-US" dirty="0"/>
          </a:p>
          <a:p>
            <a:r>
              <a:rPr lang="en-US" dirty="0"/>
              <a:t>For elite and premium tier members, showcase them early sale access and free and fast delivery to strengthen and retain their loyalty and commitment.</a:t>
            </a:r>
            <a:endParaRPr lang="en-US" dirty="0"/>
          </a:p>
          <a:p>
            <a:r>
              <a:rPr lang="en-US" dirty="0"/>
              <a:t>And lastly, for the north region customers, provide them with exclusive offers and discounts to build a strong and long term relation.</a:t>
            </a:r>
            <a:endParaRPr lang="en-US" dirty="0"/>
          </a:p>
          <a:p>
            <a:r>
              <a:rPr lang="en-IN" b="1" dirty="0"/>
              <a:t>Which Channels Are Underperforming?</a:t>
            </a:r>
            <a:endParaRPr lang="en-IN" b="1" dirty="0"/>
          </a:p>
          <a:p>
            <a:r>
              <a:rPr lang="en-IN" dirty="0"/>
              <a:t>Store Channel is underperforming as </a:t>
            </a:r>
            <a:r>
              <a:rPr lang="en-US" dirty="0"/>
              <a:t>Store customers churn at 26% while Online customers at 23%</a:t>
            </a:r>
            <a:endParaRPr lang="en-US" dirty="0"/>
          </a:p>
          <a:p>
            <a:r>
              <a:rPr lang="en-US" b="1" dirty="0"/>
              <a:t>How to Strengthen Loyalty Engagement?</a:t>
            </a:r>
            <a:endParaRPr lang="en-US" b="1" dirty="0"/>
          </a:p>
          <a:p>
            <a:r>
              <a:rPr lang="en-US" dirty="0"/>
              <a:t>Send automated reminders when customers reach redemption thresholds.</a:t>
            </a:r>
            <a:endParaRPr lang="en-US" dirty="0"/>
          </a:p>
          <a:p>
            <a:r>
              <a:rPr lang="en-US" dirty="0"/>
              <a:t>Introduce points expiry to create urgency and drive active redemption.</a:t>
            </a:r>
            <a:endParaRPr lang="en-US" dirty="0"/>
          </a:p>
          <a:p>
            <a:r>
              <a:rPr lang="en-US" dirty="0"/>
              <a:t>Replace the promotional discount with bundle offers to increase the overall basket size.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152400"/>
            <a:ext cx="10890929" cy="1181099"/>
          </a:xfrm>
        </p:spPr>
        <p:txBody>
          <a:bodyPr>
            <a:normAutofit fontScale="90000"/>
          </a:bodyPr>
          <a:lstStyle/>
          <a:p>
            <a:r>
              <a:rPr lang="en-US" dirty="0"/>
              <a:t>Task 8: Video explanation: Expressing the finding and actionable insights.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549400"/>
            <a:ext cx="10890928" cy="4650232"/>
          </a:xfrm>
        </p:spPr>
        <p:txBody>
          <a:bodyPr/>
          <a:lstStyle/>
          <a:p>
            <a:r>
              <a:rPr lang="en-IN" dirty="0"/>
              <a:t>Here’s the link for the video</a:t>
            </a:r>
            <a:endParaRPr lang="en-IN" dirty="0"/>
          </a:p>
          <a:p>
            <a:r>
              <a:rPr lang="en-US" altLang="en-US" dirty="0"/>
              <a:t>https://www.loom.com/share/825e141be6074379bb220b91c4ac2410</a:t>
            </a:r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8447</Words>
  <Application>WPS Presentation</Application>
  <PresentationFormat>Widescreen</PresentationFormat>
  <Paragraphs>160</Paragraphs>
  <Slides>33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4" baseType="lpstr">
      <vt:lpstr>Arial</vt:lpstr>
      <vt:lpstr>SimSun</vt:lpstr>
      <vt:lpstr>Wingdings</vt:lpstr>
      <vt:lpstr>Grandview Display</vt:lpstr>
      <vt:lpstr>Microsoft YaHei</vt:lpstr>
      <vt:lpstr>Arial Unicode MS</vt:lpstr>
      <vt:lpstr>Aptos</vt:lpstr>
      <vt:lpstr>Segoe UI</vt:lpstr>
      <vt:lpstr>Grandview Display</vt:lpstr>
      <vt:lpstr>Calibri</vt:lpstr>
      <vt:lpstr>DashVTI</vt:lpstr>
      <vt:lpstr>Customer Target Analytics Dashboard</vt:lpstr>
      <vt:lpstr>Task 1: Data Modeling &amp; Cleaning</vt:lpstr>
      <vt:lpstr>Task 2: Churn &amp; Retention Metrics</vt:lpstr>
      <vt:lpstr>Visualization of Churn Rate by Income Group</vt:lpstr>
      <vt:lpstr>Visualization of Churn Rate by Channel (Store/Online)</vt:lpstr>
      <vt:lpstr>Visualization of Churn Rate by Loyalty Tier</vt:lpstr>
      <vt:lpstr>Funnel Chart: Total Customers → Repeat Customers → Churned</vt:lpstr>
      <vt:lpstr>Task 3: Repeat Purchase Analysis</vt:lpstr>
      <vt:lpstr>Compare avg. purchase frequency by Region, Age Group, Loyalty Tier</vt:lpstr>
      <vt:lpstr>Average Purchase Frequency by Age Group</vt:lpstr>
      <vt:lpstr>Average Purchase Frequency by Loyalty Tier</vt:lpstr>
      <vt:lpstr>Most purchased product categories by loyal customers</vt:lpstr>
      <vt:lpstr>PowerPoint 演示文稿</vt:lpstr>
      <vt:lpstr>Task 4: Promotion &amp; Loyalty Impact</vt:lpstr>
      <vt:lpstr>PowerPoint 演示文稿</vt:lpstr>
      <vt:lpstr>Visualization of Churn Rate% by Loyalty_Tier</vt:lpstr>
      <vt:lpstr>Visualize Points Earned vs. Redeemed by Tier (Clustered Column Chart). </vt:lpstr>
      <vt:lpstr>PowerPoint 演示文稿</vt:lpstr>
      <vt:lpstr>Recommendations to improve redemption &amp; retention</vt:lpstr>
      <vt:lpstr>Task 5: Store &amp; Channel Performance vs Retention Merge store data with transactions</vt:lpstr>
      <vt:lpstr>Visualization of Avg. Transaction amount by Store Type</vt:lpstr>
      <vt:lpstr>Visualization of Churn Rate by Store Type</vt:lpstr>
      <vt:lpstr>Visualization of Correlation between store opening year &amp; retention</vt:lpstr>
      <vt:lpstr>Task 6: Customer Lifetime Value (CLV) Analysis</vt:lpstr>
      <vt:lpstr>Visualization of CLV vs Days Since Last Purchase</vt:lpstr>
      <vt:lpstr>Visualization of CLV by Loyalty Tier And Region</vt:lpstr>
      <vt:lpstr>PowerPoint 演示文稿</vt:lpstr>
      <vt:lpstr>Task 7: Final Dashboard &amp; Executive Summary</vt:lpstr>
      <vt:lpstr>PowerPoint 演示文稿</vt:lpstr>
      <vt:lpstr>PowerPoint 演示文稿</vt:lpstr>
      <vt:lpstr>PowerPoint 演示文稿</vt:lpstr>
      <vt:lpstr>Top 3 Recommendations for Target:</vt:lpstr>
      <vt:lpstr>Task 8: Video explanation: Expressing the finding and actionable insights.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Verma</dc:creator>
  <cp:lastModifiedBy>Ayush Verma</cp:lastModifiedBy>
  <cp:revision>4</cp:revision>
  <dcterms:created xsi:type="dcterms:W3CDTF">2026-04-16T13:44:00Z</dcterms:created>
  <dcterms:modified xsi:type="dcterms:W3CDTF">2026-04-17T11:14:13Z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F7EBB7E9B2A841B2B940AC3FB53A9C53_12</vt:lpwstr>
  </property>
  <property fmtid="{D5CDD505-2E9C-101B-9397-08002B2CF9AE}" pid="3" name="KSOProductBuildVer">
    <vt:lpwstr>1033-12.2.0.23196</vt:lpwstr>
  </property>
</Properties>
</file>